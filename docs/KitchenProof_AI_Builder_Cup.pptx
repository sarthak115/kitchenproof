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Kitchen Score</c:v>
                </c:pt>
              </c:strCache>
            </c:strRef>
          </c:tx>
          <c:dPt>
            <c:idx val="0"/>
            <c:spPr>
              <a:solidFill>
                <a:srgbClr val="DC2626"/>
              </a:solidFill>
            </c:spPr>
          </c:dPt>
          <c:dPt>
            <c:idx val="1"/>
            <c:spPr>
              <a:solidFill>
                <a:srgbClr val="15803D"/>
              </a:solidFill>
            </c:spPr>
          </c:dPt>
          <c:cat>
            <c:strRef>
              <c:f>Sheet1!$A$2:$A$3</c:f>
              <c:strCache>
                <c:ptCount val="2"/>
                <c:pt idx="0">
                  <c:v>Messy kitchen</c:v>
                </c:pt>
                <c:pt idx="1">
                  <c:v>Clean kitchen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92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200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3.png"/><Relationship Id="rId10" Type="http://schemas.openxmlformats.org/officeDocument/2006/relationships/image" Target="../media/image8.png"/><Relationship Id="rId11" Type="http://schemas.openxmlformats.org/officeDocument/2006/relationships/image" Target="../media/image14.png"/><Relationship Id="rId1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7.png"/><Relationship Id="rId11" Type="http://schemas.openxmlformats.org/officeDocument/2006/relationships/image" Target="../media/image22.png"/><Relationship Id="rId1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23.png"/><Relationship Id="rId9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Sarthak115/KitchenProof" TargetMode="External"/><Relationship Id="rId6" Type="http://schemas.openxmlformats.org/officeDocument/2006/relationships/hyperlink" Target="https://kitchenproof.web.app" TargetMode="External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35.png"/><Relationship Id="rId9" Type="http://schemas.openxmlformats.org/officeDocument/2006/relationships/image" Target="../media/image13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[add team name]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[add team leader name]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 b="1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500" b="0">
                <a:latin typeface="Google Sans Flex"/>
                <a:ea typeface="Google Sans Flex"/>
                <a:cs typeface="Google Sans Flex"/>
                <a:sym typeface="Google Sans Flex"/>
              </a:rPr>
              <a:t>Retail &amp; Commerce: customers can’t see or trust the kitchens behind food delivery, and there will never be enough inspectors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4320" y="10972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1344168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11479" y="1389888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C2626"/>
                </a:solidFill>
                <a:latin typeface="Arial"/>
              </a:rPr>
              <a:t>3,000+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91640" y="1417320"/>
            <a:ext cx="12344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Arial"/>
              </a:rPr>
              <a:t>FDA raids in Maharashtra since May 2026 found cockroaches, rats and rotting food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172968" y="1344168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3310127" y="1389888"/>
            <a:ext cx="1005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C2626"/>
                </a:solidFill>
                <a:latin typeface="Arial"/>
              </a:rPr>
              <a:t>2,000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07408" y="1417320"/>
            <a:ext cx="141731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Arial"/>
              </a:rPr>
              <a:t>food safety officers one state would need; inspections alone can’t keep up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71616" y="1344168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208776" y="1389888"/>
            <a:ext cx="411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C2626"/>
                </a:solidFill>
                <a:latin typeface="Arial"/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11696" y="141732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Arial"/>
              </a:rPr>
              <a:t>kitchens a customer can actually see before ordering food online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23774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rial"/>
              </a:rPr>
              <a:t>OUR IDEA: KITCHENPROOF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4320" y="2633472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384048" y="2724912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" name="Picture 84" descr="stopw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86" y="2830250"/>
            <a:ext cx="228234" cy="22823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96112" y="2724912"/>
            <a:ext cx="12435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34E4A"/>
                </a:solidFill>
                <a:latin typeface="Arial"/>
              </a:rPr>
              <a:t>Surprise request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4048" y="3218688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Platform or a customer asks at a random time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221991" y="3227832"/>
            <a:ext cx="246888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2496312" y="2633472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2606040" y="2724912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" name="Picture 90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378" y="2830250"/>
            <a:ext cx="228234" cy="228234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118104" y="2724912"/>
            <a:ext cx="12435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34E4A"/>
                </a:solidFill>
                <a:latin typeface="Arial"/>
              </a:rPr>
              <a:t>Live phone walk-through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06040" y="3218688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Random checks one by one + a hand-gesture test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443983" y="3227832"/>
            <a:ext cx="246889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4718304" y="2633472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4828032" y="2724912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7" name="Picture 96" descr="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370" y="2830250"/>
            <a:ext cx="228234" cy="22823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5340096" y="2724912"/>
            <a:ext cx="12435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34E4A"/>
                </a:solidFill>
                <a:latin typeface="Arial"/>
              </a:rPr>
              <a:t>Gemini verifies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28032" y="3218688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Pass / fail per check with timestamped video evidence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665976" y="3227832"/>
            <a:ext cx="246888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6940296" y="2633472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7050024" y="2724912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3" name="Picture 102" descr="me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362" y="2830250"/>
            <a:ext cx="228234" cy="228234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562088" y="2724912"/>
            <a:ext cx="12435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34E4A"/>
                </a:solidFill>
                <a:latin typeface="Arial"/>
              </a:rPr>
              <a:t>Trust made public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50024" y="3218688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Kitchen Score for customers, risk list for inspectors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74320" y="4023360"/>
            <a:ext cx="8595360" cy="77724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47472" y="4096512"/>
            <a:ext cx="844905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Faking one video is easy. </a:t>
            </a:r>
            <a:r>
              <a:rPr sz="1300" b="0" i="0">
                <a:solidFill>
                  <a:srgbClr val="FFFFFF"/>
                </a:solidFill>
                <a:latin typeface="Arial"/>
              </a:rPr>
              <a:t>Faking it every day, at random times, while real orders cook, is harder than just keeping the kitchen clean.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74320" y="1097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rial"/>
              </a:rPr>
              <a:t>HOW IS IT DIFFERENT?</a:t>
            </a: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274320" y="1353312"/>
          <a:ext cx="4800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822960"/>
                <a:gridCol w="822960"/>
                <a:gridCol w="77724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36576" marR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FSSAI hygiene rating</a:t>
                      </a:r>
                    </a:p>
                  </a:txBody>
                  <a:tcPr anchor="ctr" marL="36576" marR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Platform hygiene audits</a:t>
                      </a:r>
                    </a:p>
                  </a:txBody>
                  <a:tcPr anchor="ctr" marL="36576" marR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CCTV AI (chains)</a:t>
                      </a:r>
                    </a:p>
                  </a:txBody>
                  <a:tcPr anchor="ctr" marL="36576" marR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KitchenProof</a:t>
                      </a:r>
                    </a:p>
                  </a:txBody>
                  <a:tcPr anchor="ctr" marL="36576" marR="36576"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rial"/>
                        </a:rPr>
                        <a:t>Unannounced, random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E6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rial"/>
                        </a:rPr>
                        <a:t>No extra hardware</a:t>
                      </a:r>
                    </a:p>
                  </a:txBody>
                  <a:tcPr anchor="ctr" marL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E6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rial"/>
                        </a:rPr>
                        <a:t>AI-verified evidence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E6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rial"/>
                        </a:rPr>
                        <a:t>Visible when ordering</a:t>
                      </a:r>
                    </a:p>
                  </a:txBody>
                  <a:tcPr anchor="ctr" marL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45309"/>
                          </a:solidFill>
                          <a:latin typeface="Arial"/>
                        </a:rPr>
                        <a:t>~</a:t>
                      </a:r>
                    </a:p>
                  </a:txBody>
                  <a:tcPr anchor="ctr" marL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E6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rial"/>
                        </a:rPr>
                        <a:t>Affordable for every kitchen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C2626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274320" y="416052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✓ yes   ✗ no   ~ rarely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49240" y="10972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rial"/>
              </a:rPr>
              <a:t>HOW WILL IT SOLVE THE PROBLEM?</a:t>
            </a:r>
          </a:p>
        </p:txBody>
      </p:sp>
      <p:sp>
        <p:nvSpPr>
          <p:cNvPr id="84" name="Oval 83"/>
          <p:cNvSpPr/>
          <p:nvPr/>
        </p:nvSpPr>
        <p:spPr>
          <a:xfrm>
            <a:off x="5349240" y="137160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" name="Picture 84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481328"/>
            <a:ext cx="237744" cy="23774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916168" y="13716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Arial"/>
              </a:rPr>
              <a:t>Every phone becomes an inspector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scales to lakhs of kitchens</a:t>
            </a:r>
          </a:p>
        </p:txBody>
      </p:sp>
      <p:sp>
        <p:nvSpPr>
          <p:cNvPr id="87" name="Oval 86"/>
          <p:cNvSpPr/>
          <p:nvPr/>
        </p:nvSpPr>
        <p:spPr>
          <a:xfrm>
            <a:off x="5349240" y="1993392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8" name="Picture 87" descr="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2103120"/>
            <a:ext cx="237744" cy="23774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916168" y="199339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Arial"/>
              </a:rPr>
              <a:t>Customers choose with evidence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not just star ratings</a:t>
            </a:r>
          </a:p>
        </p:txBody>
      </p:sp>
      <p:sp>
        <p:nvSpPr>
          <p:cNvPr id="90" name="Oval 89"/>
          <p:cNvSpPr/>
          <p:nvPr/>
        </p:nvSpPr>
        <p:spPr>
          <a:xfrm>
            <a:off x="5349240" y="2615184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" name="Picture 90" descr="detect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2724912"/>
            <a:ext cx="237744" cy="237744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916168" y="2615184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Arial"/>
              </a:rPr>
              <a:t>Inspectors visit the riskiest first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ranked with plain reasons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349240" y="3310128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5532120" y="34015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9F6E4"/>
                </a:solidFill>
                <a:latin typeface="Arial"/>
              </a:rPr>
              <a:t>USP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32120" y="36393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Unannounced, randomized, AI-verified and public: a kitchen check that is hard to fake and cheap enough for every kitchen.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74320" y="1143000"/>
            <a:ext cx="2011680" cy="14447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11479" y="128016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" name="Picture 89" descr="stop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7" y="1389888"/>
            <a:ext cx="237744" cy="237744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60120" y="12801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Surprise audits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79" y="1828800"/>
            <a:ext cx="17556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Random timing. 10 min to start, 4 to finish, or it shows as a missed check.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468879" y="1143000"/>
            <a:ext cx="2011680" cy="14447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2606039" y="128016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5" name="Picture 94" descr="d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68" y="1389888"/>
            <a:ext cx="237744" cy="237744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3154679" y="12801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Random live checks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06039" y="1828800"/>
            <a:ext cx="17556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16 FSSAI-style checks, revealed one at a time by the server.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663440" y="1143000"/>
            <a:ext cx="2011680" cy="14447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0" name="Picture 99" descr="h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1389888"/>
            <a:ext cx="237744" cy="237744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349240" y="12801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Liveness challenge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00600" y="1828800"/>
            <a:ext cx="17556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“Hold up 3 fingers at the stove” defeats pre-recorded video.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57999" y="1143000"/>
            <a:ext cx="2011680" cy="14447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6995159" y="128016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5" name="Picture 104" descr="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1389888"/>
            <a:ext cx="237744" cy="237744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7543800" y="12801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Gemini auditor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59" y="1828800"/>
            <a:ext cx="17556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Pass / fail / not verified per check, with an MM:SS timestamp.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74320" y="2743200"/>
            <a:ext cx="2011680" cy="14447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411479" y="288036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0" name="Picture 109" descr="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7" y="2990088"/>
            <a:ext cx="237744" cy="237744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60120" y="28803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Integrity check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1479" y="3429000"/>
            <a:ext cx="17556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Spots cuts, a different kitchen, or “too perfect” for the order volume.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468879" y="2743200"/>
            <a:ext cx="2011680" cy="14447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2606039" y="2880360"/>
            <a:ext cx="457200" cy="45720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5" name="Picture 114" descr="med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5768" y="2990088"/>
            <a:ext cx="237744" cy="237744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3154679" y="28803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Kitchen Score + tiers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06039" y="3429000"/>
            <a:ext cx="17556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Bronze → Silver → Gold evidence tiers; fades without fresh checks.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663440" y="2743200"/>
            <a:ext cx="2011680" cy="14447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4800600" y="2880360"/>
            <a:ext cx="457200" cy="45720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0" name="Picture 119" descr="mot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990088"/>
            <a:ext cx="237744" cy="23774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5349240" y="28803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Customer spot check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00600" y="3429000"/>
            <a:ext cx="17556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Ask for a live check during your own order and see the result.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857999" y="2743200"/>
            <a:ext cx="2011680" cy="14447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6995159" y="2880360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5" name="Picture 124" descr="detectiv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888" y="2990088"/>
            <a:ext cx="237744" cy="237744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7543800" y="28803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rial"/>
              </a:rPr>
              <a:t>Inspector ranking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95159" y="3429000"/>
            <a:ext cx="17556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Kitchens ranked by risk, with reasons and a review queue.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4320" y="4416552"/>
            <a:ext cx="8595360" cy="411480"/>
          </a:xfrm>
          <a:prstGeom prst="roundRect">
            <a:avLst>
              <a:gd name="adj" fmla="val 30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47472" y="4489704"/>
            <a:ext cx="8449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34E4A"/>
                </a:solidFill>
                <a:latin typeface="Arial"/>
              </a:rPr>
              <a:t>Also: </a:t>
            </a:r>
            <a:r>
              <a:rPr sz="1050" b="0" i="0">
                <a:solidFill>
                  <a:srgbClr val="0F172A"/>
                </a:solidFill>
                <a:latin typeface="Arial"/>
              </a:rPr>
              <a:t>owner disputes → human review  ·  fix list in English / हिन्दी / ଓଡ଼ିଆ  ·  spoken prompts  ·  works on any phone (PWA)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274320" y="1115568"/>
            <a:ext cx="8595360" cy="8412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365760" y="1188720"/>
            <a:ext cx="329184" cy="32918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8" name="Picture 97" descr="detec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64" y="1267724"/>
            <a:ext cx="171175" cy="171175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65760" y="1545336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Arial"/>
              </a:rPr>
              <a:t>Inspector /
platform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74320" y="2020824"/>
            <a:ext cx="8595360" cy="841248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365760" y="2093976"/>
            <a:ext cx="329184" cy="32918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2" name="Picture 101" descr="st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64" y="2172980"/>
            <a:ext cx="171175" cy="171175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65760" y="2450591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45309"/>
                </a:solidFill>
                <a:latin typeface="Arial"/>
              </a:rPr>
              <a:t>Restaurant
owner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74320" y="2926080"/>
            <a:ext cx="8595360" cy="84124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365760" y="2999232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6" name="Picture 105" descr="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64" y="3078236"/>
            <a:ext cx="171175" cy="171175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365760" y="3355848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4ED8"/>
                </a:solidFill>
                <a:latin typeface="Arial"/>
              </a:rPr>
              <a:t>KitchenProof
AI (Gemini)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74320" y="3831335"/>
            <a:ext cx="8595360" cy="841248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365760" y="3904487"/>
            <a:ext cx="329184" cy="329184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0" name="Picture 109" descr="u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764" y="3983492"/>
            <a:ext cx="171175" cy="171175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365760" y="4261103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E185D"/>
                </a:solidFill>
                <a:latin typeface="Arial"/>
              </a:rPr>
              <a:t>Customer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417320" y="1261872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1463040" y="1307592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① Trigger surprise check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17320" y="3977639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463040" y="4023359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① Request check during my order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679192" y="2167128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2724912" y="2212848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② Alert + 10-min countdown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941063" y="2167128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3986783" y="2212848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③ Live video: random checks + hand gesture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202936" y="3072384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248656" y="3118104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④ Gemini auditor ∥ integrity check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64808" y="3072384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6510528" y="3118104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⑤ Score · tier · fix list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726679" y="3977639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7772400" y="4023359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5803D"/>
                </a:solidFill>
                <a:latin typeface="Arial"/>
              </a:rPr>
              <a:t>⑥ Verified badge on order + listing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726679" y="1261872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7772400" y="1307592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Arial"/>
              </a:rPr>
              <a:t>⑥ Risk ranking + review queue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941063" y="1261872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986783" y="1307592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DC2626"/>
                </a:solidFill>
                <a:latin typeface="Arial"/>
              </a:rPr>
              <a:t>Missed window → public “missed check”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64808" y="1261872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6510528" y="1307592"/>
            <a:ext cx="1005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DC2626"/>
                </a:solidFill>
                <a:latin typeface="Arial"/>
              </a:rPr>
              <a:t>Suspicious or disputed → inspector decides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514600" y="1536192"/>
            <a:ext cx="438912" cy="630936"/>
          </a:xfrm>
          <a:prstGeom prst="bentConnector3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514600" y="2715768"/>
            <a:ext cx="438912" cy="1536191"/>
          </a:xfrm>
          <a:prstGeom prst="bentConnector3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776472" y="2441448"/>
            <a:ext cx="16459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502152" y="1536192"/>
            <a:ext cx="438911" cy="630936"/>
          </a:xfrm>
          <a:prstGeom prst="bentConnector3">
            <a:avLst/>
          </a:prstGeom>
          <a:ln w="22225">
            <a:solidFill>
              <a:srgbClr val="DC262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038344" y="2441448"/>
            <a:ext cx="438912" cy="630936"/>
          </a:xfrm>
          <a:prstGeom prst="bentConnector3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300216" y="3346704"/>
            <a:ext cx="16459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2088" y="3346704"/>
            <a:ext cx="438912" cy="630935"/>
          </a:xfrm>
          <a:prstGeom prst="bentConnector3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3448" y="1810512"/>
            <a:ext cx="0" cy="1261872"/>
          </a:xfrm>
          <a:prstGeom prst="line">
            <a:avLst/>
          </a:prstGeom>
          <a:ln w="22225">
            <a:solidFill>
              <a:srgbClr val="DC262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562088" y="1536192"/>
            <a:ext cx="16459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219456" y="1133856"/>
            <a:ext cx="1673833" cy="30815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5" name="Picture 104" descr="owner-requ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1564105" cy="2971800"/>
          </a:xfrm>
          <a:prstGeom prst="rect">
            <a:avLst/>
          </a:prstGeom>
        </p:spPr>
      </p:pic>
      <p:sp>
        <p:nvSpPr>
          <p:cNvPr id="106" name="Oval 105"/>
          <p:cNvSpPr/>
          <p:nvPr/>
        </p:nvSpPr>
        <p:spPr>
          <a:xfrm>
            <a:off x="164592" y="1051560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7" name="Picture 106" descr="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985" y="1134953"/>
            <a:ext cx="180685" cy="180685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37160" y="4279392"/>
            <a:ext cx="18384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Owner gets a surprise request with a countdown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948153" y="2674620"/>
            <a:ext cx="560190" cy="0"/>
          </a:xfrm>
          <a:prstGeom prst="line">
            <a:avLst/>
          </a:prstGeom>
          <a:ln w="317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2563207" y="1133856"/>
            <a:ext cx="1673833" cy="30815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1" name="Picture 110" descr="live-audit-livene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8071" y="1188720"/>
            <a:ext cx="1564105" cy="2971800"/>
          </a:xfrm>
          <a:prstGeom prst="rect">
            <a:avLst/>
          </a:prstGeom>
        </p:spPr>
      </p:pic>
      <p:sp>
        <p:nvSpPr>
          <p:cNvPr id="112" name="Oval 111"/>
          <p:cNvSpPr/>
          <p:nvPr/>
        </p:nvSpPr>
        <p:spPr>
          <a:xfrm>
            <a:off x="2508343" y="1051560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3" name="Picture 112" descr="vid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1736" y="1134953"/>
            <a:ext cx="180685" cy="180685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2480911" y="4279392"/>
            <a:ext cx="18384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Live audit: one check at a time + hand gesture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291904" y="2674620"/>
            <a:ext cx="560191" cy="0"/>
          </a:xfrm>
          <a:prstGeom prst="line">
            <a:avLst/>
          </a:prstGeom>
          <a:ln w="317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4906959" y="1133856"/>
            <a:ext cx="1673833" cy="30815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7" name="Picture 116" descr="rep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823" y="1188720"/>
            <a:ext cx="1564105" cy="2971800"/>
          </a:xfrm>
          <a:prstGeom prst="rect">
            <a:avLst/>
          </a:prstGeom>
        </p:spPr>
      </p:pic>
      <p:sp>
        <p:nvSpPr>
          <p:cNvPr id="118" name="Oval 117"/>
          <p:cNvSpPr/>
          <p:nvPr/>
        </p:nvSpPr>
        <p:spPr>
          <a:xfrm>
            <a:off x="4852095" y="1051560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9" name="Picture 118" descr="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5488" y="1134953"/>
            <a:ext cx="180685" cy="180685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4824663" y="4279392"/>
            <a:ext cx="18384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Gemini report with timestamped evidence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635656" y="2674620"/>
            <a:ext cx="560190" cy="0"/>
          </a:xfrm>
          <a:prstGeom prst="line">
            <a:avLst/>
          </a:prstGeom>
          <a:ln w="317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7250710" y="1133856"/>
            <a:ext cx="1673833" cy="30815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3" name="Picture 122" descr="foodiego-restaura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5574" y="1188720"/>
            <a:ext cx="1564105" cy="2971800"/>
          </a:xfrm>
          <a:prstGeom prst="rect">
            <a:avLst/>
          </a:prstGeom>
        </p:spPr>
      </p:pic>
      <p:sp>
        <p:nvSpPr>
          <p:cNvPr id="124" name="Oval 123"/>
          <p:cNvSpPr/>
          <p:nvPr/>
        </p:nvSpPr>
        <p:spPr>
          <a:xfrm>
            <a:off x="7195846" y="1051560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5" name="Picture 124" descr="med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9240" y="1134953"/>
            <a:ext cx="180685" cy="180685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7168414" y="4279392"/>
            <a:ext cx="18384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Customer sees the verified Kitchen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274320" y="1143000"/>
            <a:ext cx="1554480" cy="3657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365760" y="120700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</a:rPr>
              <a:t>Web app (PWA)</a:t>
            </a:r>
          </a:p>
          <a:p>
            <a:pPr algn="ctr"/>
            <a:r>
              <a:rPr sz="900" b="0" i="0">
                <a:solidFill>
                  <a:srgbClr val="475569"/>
                </a:solidFill>
                <a:latin typeface="Arial"/>
              </a:rPr>
              <a:t>React · any phone</a:t>
            </a:r>
          </a:p>
        </p:txBody>
      </p:sp>
      <p:sp>
        <p:nvSpPr>
          <p:cNvPr id="114" name="Oval 113"/>
          <p:cNvSpPr/>
          <p:nvPr/>
        </p:nvSpPr>
        <p:spPr>
          <a:xfrm>
            <a:off x="411480" y="1810512"/>
            <a:ext cx="457200" cy="45720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5" name="Picture 114" descr="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1920240"/>
            <a:ext cx="237744" cy="237744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932688" y="1792224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Arial"/>
              </a:rPr>
              <a:t>Owner
camera audit</a:t>
            </a:r>
          </a:p>
        </p:txBody>
      </p:sp>
      <p:sp>
        <p:nvSpPr>
          <p:cNvPr id="117" name="Oval 116"/>
          <p:cNvSpPr/>
          <p:nvPr/>
        </p:nvSpPr>
        <p:spPr>
          <a:xfrm>
            <a:off x="411480" y="2788920"/>
            <a:ext cx="457200" cy="45720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8" name="Picture 117" descr="mo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2898648"/>
            <a:ext cx="237744" cy="237744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932688" y="2770632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Arial"/>
              </a:rPr>
              <a:t>Customer
FoodieGo</a:t>
            </a:r>
          </a:p>
        </p:txBody>
      </p:sp>
      <p:sp>
        <p:nvSpPr>
          <p:cNvPr id="120" name="Oval 119"/>
          <p:cNvSpPr/>
          <p:nvPr/>
        </p:nvSpPr>
        <p:spPr>
          <a:xfrm>
            <a:off x="411480" y="3767328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1" name="Picture 120" descr="detect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877056"/>
            <a:ext cx="237744" cy="237744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932688" y="3749040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Arial"/>
              </a:rPr>
              <a:t>Inspector
dashboard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240280" y="114300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331720" y="1216152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</a:rPr>
              <a:t>Firebase Hosting</a:t>
            </a:r>
          </a:p>
          <a:p>
            <a:pPr algn="ctr"/>
            <a:r>
              <a:rPr sz="900" b="0" i="0">
                <a:solidFill>
                  <a:srgbClr val="475569"/>
                </a:solidFill>
                <a:latin typeface="Arial"/>
              </a:rPr>
              <a:t>website + /api route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828800" y="1531620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2240280" y="2084832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2331720" y="2157984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</a:rPr>
              <a:t>Firebase Auth</a:t>
            </a:r>
          </a:p>
          <a:p>
            <a:pPr algn="ctr"/>
            <a:r>
              <a:rPr sz="900" b="0" i="0">
                <a:solidFill>
                  <a:srgbClr val="475569"/>
                </a:solidFill>
                <a:latin typeface="Arial"/>
              </a:rPr>
              <a:t>anonymous sign-in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828800" y="2473452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2240280" y="3026664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2331720" y="3099816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</a:rPr>
              <a:t>Cloud Firestore</a:t>
            </a:r>
          </a:p>
          <a:p>
            <a:pPr algn="ctr"/>
            <a:r>
              <a:rPr sz="900" b="0" i="0">
                <a:solidFill>
                  <a:srgbClr val="475569"/>
                </a:solidFill>
                <a:latin typeface="Arial"/>
              </a:rPr>
              <a:t>live data &amp; listeners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828800" y="3415284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2240280" y="3968496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2331720" y="4041648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</a:rPr>
              <a:t>Cloud Storage</a:t>
            </a:r>
          </a:p>
          <a:p>
            <a:pPr algn="ctr"/>
            <a:r>
              <a:rPr sz="900" b="0" i="0">
                <a:solidFill>
                  <a:srgbClr val="475569"/>
                </a:solidFill>
                <a:latin typeface="Arial"/>
              </a:rPr>
              <a:t>audit videos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828800" y="4357116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>
            <a:off x="4434840" y="1143000"/>
            <a:ext cx="2377440" cy="27432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4526280" y="1216152"/>
            <a:ext cx="365760" cy="36576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7" name="Picture 136" descr="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4062" y="1303934"/>
            <a:ext cx="190195" cy="190195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4956048" y="1188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Arial"/>
              </a:rPr>
              <a:t>Cloud Run</a:t>
            </a:r>
          </a:p>
          <a:p>
            <a:pPr algn="l"/>
            <a:r>
              <a:rPr sz="900" b="0" i="0">
                <a:solidFill>
                  <a:srgbClr val="475569"/>
                </a:solidFill>
                <a:latin typeface="Arial"/>
              </a:rPr>
              <a:t>Python FastAPI · AI agents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0" y="1783080"/>
            <a:ext cx="213969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4599432" y="1810512"/>
            <a:ext cx="20848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Orchestrator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572000" y="2286000"/>
            <a:ext cx="10241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4599432" y="2313432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Planner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87568" y="2286000"/>
            <a:ext cx="10241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5715000" y="2313432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Arial"/>
              </a:rPr>
              <a:t>Auditor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572000" y="2788920"/>
            <a:ext cx="10241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4599432" y="2816351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Arial"/>
              </a:rPr>
              <a:t>Integrity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687568" y="2788920"/>
            <a:ext cx="10241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5715000" y="2816351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Scorer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572000" y="3291840"/>
            <a:ext cx="10241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4599432" y="3319272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Coach (EN/HI/OR)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687568" y="3291840"/>
            <a:ext cx="10241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5715000" y="3319272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Risk ranking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23360" y="1531620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4023360" y="3415284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/>
          <p:cNvSpPr/>
          <p:nvPr/>
        </p:nvSpPr>
        <p:spPr>
          <a:xfrm>
            <a:off x="7178040" y="1143000"/>
            <a:ext cx="1691640" cy="16002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7772400" y="12344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7" name="Picture 156" descr="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3100" y="1355140"/>
            <a:ext cx="261518" cy="26151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7269480" y="178308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Gemini 3.8 Flash</a:t>
            </a:r>
          </a:p>
          <a:p>
            <a:pPr algn="ctr"/>
            <a:r>
              <a:rPr sz="1000" b="0" i="0">
                <a:solidFill>
                  <a:srgbClr val="BFDBFE"/>
                </a:solidFill>
                <a:latin typeface="Arial"/>
              </a:rPr>
              <a:t>on Vertex AI</a:t>
            </a:r>
          </a:p>
          <a:p>
            <a:pPr algn="ctr"/>
            <a:r>
              <a:rPr sz="900" b="0" i="0">
                <a:solidFill>
                  <a:srgbClr val="BFDBFE"/>
                </a:solidFill>
                <a:latin typeface="Arial"/>
              </a:rPr>
              <a:t>video → JSON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812280" y="1920240"/>
            <a:ext cx="365760" cy="0"/>
          </a:xfrm>
          <a:prstGeom prst="line">
            <a:avLst/>
          </a:prstGeom>
          <a:ln w="2857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6830568" y="16916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  <a:latin typeface="Arial"/>
              </a:rPr>
              <a:t>2×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434840" y="4069080"/>
            <a:ext cx="1143000" cy="731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4471416" y="4105656"/>
            <a:ext cx="10698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Arial"/>
              </a:rPr>
              <a:t>Cloud Scheduler</a:t>
            </a:r>
          </a:p>
          <a:p>
            <a:pPr algn="ctr"/>
            <a:r>
              <a:rPr sz="850" b="0" i="0">
                <a:solidFill>
                  <a:srgbClr val="475569"/>
                </a:solidFill>
                <a:latin typeface="Arial"/>
              </a:rPr>
              <a:t>surprise audits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669280" y="4069080"/>
            <a:ext cx="1143000" cy="731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5705856" y="4105656"/>
            <a:ext cx="10698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Arial"/>
              </a:rPr>
              <a:t>Secret Manager</a:t>
            </a:r>
          </a:p>
          <a:p>
            <a:pPr algn="ctr"/>
            <a:r>
              <a:rPr sz="850" b="0" i="0">
                <a:solidFill>
                  <a:srgbClr val="475569"/>
                </a:solidFill>
                <a:latin typeface="Arial"/>
              </a:rPr>
              <a:t>+ Cloud Build</a:t>
            </a:r>
          </a:p>
        </p:txBody>
      </p:sp>
      <p:cxnSp>
        <p:nvCxnSpPr>
          <p:cNvPr id="165" name="Connector 164"/>
          <p:cNvCxnSpPr/>
          <p:nvPr/>
        </p:nvCxnSpPr>
        <p:spPr>
          <a:xfrm flipV="1">
            <a:off x="5001768" y="3886200"/>
            <a:ext cx="0" cy="18288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7178040" y="288036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7269479" y="2971800"/>
            <a:ext cx="1508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34E4A"/>
                </a:solidFill>
                <a:latin typeface="Arial"/>
              </a:rPr>
              <a:t>Per audit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Gemini reads the video straight from Cloud Storage (gs://). Auditor and integrity run in parallel → score → fix list → Firestore → badge updates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274320" y="114300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1" name="Picture 120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16152"/>
            <a:ext cx="420624" cy="420624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896112" y="1143000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74320" y="182880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320040" y="187451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Gemini 3.8 Flash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74320" y="242316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20040" y="246887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Vertex AI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74320" y="301752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320040" y="306323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Google Gen AI SDK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74320" y="361188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320040" y="365760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Video understanding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74320" y="420624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320040" y="425195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Structured JSON output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468879" y="114300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4" name="Picture 133" descr="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1216152"/>
            <a:ext cx="420624" cy="420624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3090672" y="1143000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Google Cloud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468879" y="182880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2514599" y="187451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Cloud Run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468879" y="242316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2514599" y="246887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Cloud Storage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468879" y="301752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2514599" y="306323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Cloud Scheduler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468879" y="361188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2514599" y="365760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Secret Manager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468879" y="420624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2514599" y="425195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Cloud Build + Artifact Registry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663440" y="114300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7" name="Picture 146" descr="fi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1216152"/>
            <a:ext cx="420624" cy="420624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5285231" y="1143000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Firebase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663440" y="182880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4709159" y="187451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Firebase Hosting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63440" y="242316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709159" y="246887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Firebase Authentication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663440" y="301752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4709159" y="306323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Cloud Firestore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663440" y="361188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4709159" y="365760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Security rules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663440" y="420624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4709159" y="425195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Emulator Suite (tests)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857999" y="114300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0" name="Picture 159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7" y="1216152"/>
            <a:ext cx="420624" cy="420624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7479792" y="1143000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7999" y="182880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6903719" y="187451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React + Vite + TypeScript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857999" y="242316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6903719" y="246887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Tailwind CSS · PWA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857999" y="301752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6903719" y="306323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Camera: getUserMedia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857999" y="361188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6903719" y="365760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Python 3.12 + FastAPI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857999" y="4206240"/>
            <a:ext cx="2011680" cy="47548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6903719" y="425195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Arial"/>
              </a:rPr>
              <a:t>Speech: EN / हिन्दी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274320" y="114300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411479" y="1207008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4E4A"/>
                </a:solidFill>
                <a:latin typeface="Arial"/>
              </a:rPr>
              <a:t>≈ $0.02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1479" y="17830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per AI-verified audit</a:t>
            </a:r>
          </a:p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2 Gemini Flash calls on a 1–2 min video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172968" y="114300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3310127" y="1207008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4E4A"/>
                </a:solidFill>
                <a:latin typeface="Arial"/>
              </a:rPr>
              <a:t>≈ ₹60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0127" y="17830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per kitchen per month</a:t>
            </a:r>
          </a:p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with one surprise audit every day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071616" y="114300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6208776" y="1207008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4E4A"/>
                </a:solidFill>
                <a:latin typeface="Arial"/>
              </a:rPr>
              <a:t>₹0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08776" y="17830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extra hardware</a:t>
            </a:r>
          </a:p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any smartphone; no CCTV install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274320" y="256032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463040"/>
                <a:gridCol w="237744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 anchor="ctr" marL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Kitchens</a:t>
                      </a:r>
                    </a:p>
                  </a:txBody>
                  <a:tcPr anchor="ctr" marL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Audits / month</a:t>
                      </a:r>
                    </a:p>
                  </a:txBody>
                  <a:tcPr anchor="ctr" marL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Est. monthly cost</a:t>
                      </a:r>
                    </a:p>
                  </a:txBody>
                  <a:tcPr anchor="ctr" marL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Per kitchen</a:t>
                      </a:r>
                    </a:p>
                  </a:txBody>
                  <a:tcPr anchor="ctr" marL="91440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Pilot (one city zone)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3,000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34E4A"/>
                          </a:solidFill>
                          <a:latin typeface="Arial"/>
                        </a:rPr>
                        <a:t>≈ $75  (₹6k)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$0.75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City</a:t>
                      </a:r>
                    </a:p>
                  </a:txBody>
                  <a:tcPr anchor="ctr" marL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anchor="ctr" marL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30,000</a:t>
                      </a:r>
                    </a:p>
                  </a:txBody>
                  <a:tcPr anchor="ctr" marL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34E4A"/>
                          </a:solidFill>
                          <a:latin typeface="Arial"/>
                        </a:rPr>
                        <a:t>≈ $700  (₹58k)</a:t>
                      </a:r>
                    </a:p>
                  </a:txBody>
                  <a:tcPr anchor="ctr" marL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$0.70</a:t>
                      </a:r>
                    </a:p>
                  </a:txBody>
                  <a:tcPr anchor="ctr" marL="91440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10,000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300,000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34E4A"/>
                          </a:solidFill>
                          <a:latin typeface="Arial"/>
                        </a:rPr>
                        <a:t>≈ $6,500  (₹5.4 lakh)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$0.65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Estimates: Gemini Flash list pricing on Vertex AI (~50k video tokens per audit) plus Cloud Run, Firestore, Storage and Hosting. Cloud Run scales to zero when idle. $1 ≈ ₹83.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274320" y="1152144"/>
            <a:ext cx="4919472" cy="3102102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7" name="Picture 136" descr="inspector-ra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0"/>
            <a:ext cx="4846320" cy="3028950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274320" y="435483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Inspector: kitchens ranked by risk, with reasons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394960" y="1143000"/>
            <a:ext cx="1679608" cy="3108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0" name="Picture 139" descr="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1188720"/>
            <a:ext cx="1588168" cy="301752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5303520" y="4343400"/>
            <a:ext cx="18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AI report + evidence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275736" y="1143000"/>
            <a:ext cx="1679608" cy="3108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3" name="Picture 142" descr="foodiego-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1456" y="1188720"/>
            <a:ext cx="1588168" cy="301752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7184296" y="4343400"/>
            <a:ext cx="18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rial"/>
              </a:rPr>
              <a:t>FoodieGo badges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Chart 143"/>
          <p:cNvGraphicFramePr>
            <a:graphicFrameLocks noGrp="1"/>
          </p:cNvGraphicFramePr>
          <p:nvPr/>
        </p:nvGraphicFramePr>
        <p:xfrm>
          <a:off x="274320" y="1371600"/>
          <a:ext cx="3566160" cy="342900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274320" y="1097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34E4A"/>
                </a:solidFill>
                <a:latin typeface="Arial"/>
              </a:rPr>
              <a:t>Kitchen Score by Gemini 3.8 Flash on our real videos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114800" y="114300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4251960" y="123444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Arial"/>
              </a:rPr>
              <a:t>5 / 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251960" y="1764792"/>
            <a:ext cx="2057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Arial"/>
              </a:rPr>
              <a:t>issues caught in the messy kitchen</a:t>
            </a:r>
          </a:p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incl. expired ghee read off the label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537960" y="114300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6675120" y="123444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D4ED8"/>
                </a:solidFill>
                <a:latin typeface="Arial"/>
              </a:rPr>
              <a:t>43–46 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75120" y="1764792"/>
            <a:ext cx="2057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Arial"/>
              </a:rPr>
              <a:t>live analysis per video</a:t>
            </a:r>
          </a:p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Cloud Run + Vertex AI, 2 parallel calls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114800" y="260604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4251960" y="269748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45309"/>
                </a:solidFill>
                <a:latin typeface="Arial"/>
              </a:rPr>
              <a:t>1 / 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51960" y="3227832"/>
            <a:ext cx="2057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Arial"/>
              </a:rPr>
              <a:t>real video edit detected</a:t>
            </a:r>
          </a:p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a cut at 1:01 in a re-shot clip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537960" y="260604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675120" y="269748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766E"/>
                </a:solidFill>
                <a:latin typeface="Arial"/>
              </a:rPr>
              <a:t>2 / 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675120" y="3227832"/>
            <a:ext cx="2057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Arial"/>
              </a:rPr>
              <a:t>staged kitchens flagged</a:t>
            </a:r>
          </a:p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“too perfect” at a busy hour, 95% sure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114800" y="4160520"/>
            <a:ext cx="4709160" cy="640080"/>
          </a:xfrm>
          <a:prstGeom prst="roundRect">
            <a:avLst>
              <a:gd name="adj" fmla="val 12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4224528" y="4270248"/>
            <a:ext cx="4489704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4E4A"/>
                </a:solidFill>
                <a:latin typeface="Arial"/>
              </a:rPr>
              <a:t>Tested: </a:t>
            </a:r>
            <a:r>
              <a:rPr sz="1000" b="0" i="0">
                <a:solidFill>
                  <a:srgbClr val="0F172A"/>
                </a:solidFill>
                <a:latin typeface="Arial"/>
              </a:rPr>
              <a:t>23 backend tests · end-to-end browser tests of the tour and camera audit · security rules on Firebase emulators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822960" y="1572768"/>
            <a:ext cx="7498079" cy="5486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1005840" y="1325880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" name="Picture 15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513" y="1457553"/>
            <a:ext cx="285292" cy="285292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274320" y="1965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766E"/>
                </a:solidFill>
                <a:latin typeface="Arial"/>
              </a:rPr>
              <a:t>NOW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74320" y="228600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411479" y="24048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rial"/>
              </a:rPr>
              <a:t>Prototype live</a:t>
            </a:r>
          </a:p>
        </p:txBody>
      </p:sp>
      <p:sp>
        <p:nvSpPr>
          <p:cNvPr id="158" name="Oval 157"/>
          <p:cNvSpPr/>
          <p:nvPr/>
        </p:nvSpPr>
        <p:spPr>
          <a:xfrm>
            <a:off x="411479" y="293522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621792" y="286207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Gemini on Vertex AI</a:t>
            </a:r>
          </a:p>
        </p:txBody>
      </p:sp>
      <p:sp>
        <p:nvSpPr>
          <p:cNvPr id="160" name="Oval 159"/>
          <p:cNvSpPr/>
          <p:nvPr/>
        </p:nvSpPr>
        <p:spPr>
          <a:xfrm>
            <a:off x="411479" y="35021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21792" y="342900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Cloud Run + Firebase</a:t>
            </a:r>
          </a:p>
        </p:txBody>
      </p:sp>
      <p:sp>
        <p:nvSpPr>
          <p:cNvPr id="162" name="Oval 161"/>
          <p:cNvSpPr/>
          <p:nvPr/>
        </p:nvSpPr>
        <p:spPr>
          <a:xfrm>
            <a:off x="411479" y="406908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621792" y="3995928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Real kitchen videos</a:t>
            </a:r>
          </a:p>
        </p:txBody>
      </p:sp>
      <p:sp>
        <p:nvSpPr>
          <p:cNvPr id="164" name="Oval 163"/>
          <p:cNvSpPr/>
          <p:nvPr/>
        </p:nvSpPr>
        <p:spPr>
          <a:xfrm>
            <a:off x="3200400" y="132588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2073" y="1457553"/>
            <a:ext cx="285292" cy="285292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2468879" y="1965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  <a:latin typeface="Arial"/>
              </a:rPr>
              <a:t>0–3 MONTHS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468879" y="228600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2606039" y="24048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rial"/>
              </a:rPr>
              <a:t>Pilot</a:t>
            </a:r>
          </a:p>
        </p:txBody>
      </p:sp>
      <p:sp>
        <p:nvSpPr>
          <p:cNvPr id="169" name="Oval 168"/>
          <p:cNvSpPr/>
          <p:nvPr/>
        </p:nvSpPr>
        <p:spPr>
          <a:xfrm>
            <a:off x="2606039" y="2935224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2816351" y="286207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50 cloud kitchens</a:t>
            </a:r>
          </a:p>
        </p:txBody>
      </p:sp>
      <p:sp>
        <p:nvSpPr>
          <p:cNvPr id="171" name="Oval 170"/>
          <p:cNvSpPr/>
          <p:nvPr/>
        </p:nvSpPr>
        <p:spPr>
          <a:xfrm>
            <a:off x="2606039" y="350215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2816351" y="342900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Gemini Live voice guide</a:t>
            </a:r>
          </a:p>
        </p:txBody>
      </p:sp>
      <p:sp>
        <p:nvSpPr>
          <p:cNvPr id="173" name="Oval 172"/>
          <p:cNvSpPr/>
          <p:nvPr/>
        </p:nvSpPr>
        <p:spPr>
          <a:xfrm>
            <a:off x="2606039" y="4069080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2816351" y="3995928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ADK agent orchestration</a:t>
            </a:r>
          </a:p>
        </p:txBody>
      </p:sp>
      <p:sp>
        <p:nvSpPr>
          <p:cNvPr id="175" name="Oval 174"/>
          <p:cNvSpPr/>
          <p:nvPr/>
        </p:nvSpPr>
        <p:spPr>
          <a:xfrm>
            <a:off x="5394959" y="1325880"/>
            <a:ext cx="548640" cy="5486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6" name="Picture 175" descr="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6633" y="1457553"/>
            <a:ext cx="285292" cy="285292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4663440" y="1965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45309"/>
                </a:solidFill>
                <a:latin typeface="Arial"/>
              </a:rPr>
              <a:t>3–6 MONTHS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4663440" y="228600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4800600" y="24048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rial"/>
              </a:rPr>
              <a:t>Integrate</a:t>
            </a:r>
          </a:p>
        </p:txBody>
      </p:sp>
      <p:sp>
        <p:nvSpPr>
          <p:cNvPr id="180" name="Oval 179"/>
          <p:cNvSpPr/>
          <p:nvPr/>
        </p:nvSpPr>
        <p:spPr>
          <a:xfrm>
            <a:off x="4800600" y="2935224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5010912" y="286207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Delivery-app badge API</a:t>
            </a:r>
          </a:p>
        </p:txBody>
      </p:sp>
      <p:sp>
        <p:nvSpPr>
          <p:cNvPr id="182" name="Oval 181"/>
          <p:cNvSpPr/>
          <p:nvPr/>
        </p:nvSpPr>
        <p:spPr>
          <a:xfrm>
            <a:off x="4800600" y="3502152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TextBox 182"/>
          <p:cNvSpPr txBox="1"/>
          <p:nvPr/>
        </p:nvSpPr>
        <p:spPr>
          <a:xfrm>
            <a:off x="5010912" y="342900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FSSAI inspector dashboard</a:t>
            </a:r>
          </a:p>
        </p:txBody>
      </p:sp>
      <p:sp>
        <p:nvSpPr>
          <p:cNvPr id="184" name="Oval 183"/>
          <p:cNvSpPr/>
          <p:nvPr/>
        </p:nvSpPr>
        <p:spPr>
          <a:xfrm>
            <a:off x="4800600" y="4069080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5010912" y="3995928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Rider pickup photo checks</a:t>
            </a:r>
          </a:p>
        </p:txBody>
      </p:sp>
      <p:sp>
        <p:nvSpPr>
          <p:cNvPr id="186" name="Oval 185"/>
          <p:cNvSpPr/>
          <p:nvPr/>
        </p:nvSpPr>
        <p:spPr>
          <a:xfrm>
            <a:off x="7589519" y="1325880"/>
            <a:ext cx="548640" cy="54864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7" name="Picture 186" descr="gl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193" y="1457553"/>
            <a:ext cx="285292" cy="285292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6857999" y="1965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E185D"/>
                </a:solidFill>
                <a:latin typeface="Arial"/>
              </a:rPr>
              <a:t>6–12 MONTHS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857999" y="228600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6995159" y="24048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Arial"/>
              </a:rPr>
              <a:t>Scale</a:t>
            </a:r>
          </a:p>
        </p:txBody>
      </p:sp>
      <p:sp>
        <p:nvSpPr>
          <p:cNvPr id="191" name="Oval 190"/>
          <p:cNvSpPr/>
          <p:nvPr/>
        </p:nvSpPr>
        <p:spPr>
          <a:xfrm>
            <a:off x="6995159" y="2935224"/>
            <a:ext cx="128016" cy="128016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TextBox 191"/>
          <p:cNvSpPr txBox="1"/>
          <p:nvPr/>
        </p:nvSpPr>
        <p:spPr>
          <a:xfrm>
            <a:off x="7205471" y="286207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School mid-day meal kitchens</a:t>
            </a:r>
          </a:p>
        </p:txBody>
      </p:sp>
      <p:sp>
        <p:nvSpPr>
          <p:cNvPr id="193" name="Oval 192"/>
          <p:cNvSpPr/>
          <p:nvPr/>
        </p:nvSpPr>
        <p:spPr>
          <a:xfrm>
            <a:off x="6995159" y="3502152"/>
            <a:ext cx="128016" cy="128016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TextBox 193"/>
          <p:cNvSpPr txBox="1"/>
          <p:nvPr/>
        </p:nvSpPr>
        <p:spPr>
          <a:xfrm>
            <a:off x="7205471" y="342900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Hostel messes</a:t>
            </a:r>
          </a:p>
        </p:txBody>
      </p:sp>
      <p:sp>
        <p:nvSpPr>
          <p:cNvPr id="195" name="Oval 194"/>
          <p:cNvSpPr/>
          <p:nvPr/>
        </p:nvSpPr>
        <p:spPr>
          <a:xfrm>
            <a:off x="6995159" y="4069080"/>
            <a:ext cx="128016" cy="128016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TextBox 195"/>
          <p:cNvSpPr txBox="1"/>
          <p:nvPr/>
        </p:nvSpPr>
        <p:spPr>
          <a:xfrm>
            <a:off x="7205471" y="3995928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rial"/>
              </a:rPr>
              <a:t>Other states &amp; countries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 </a:t>
            </a:r>
            <a:r>
              <a:rPr lang="en-GB" b="0">
                <a:solidFill>
                  <a:srgbClr val="0F766E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5"/>
              </a:rPr>
              <a:t>github.com/Sarthak115/KitchenProof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 </a:t>
            </a:r>
            <a:r>
              <a:rPr lang="en-GB" b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[add YouTube / Drive link]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 </a:t>
            </a:r>
            <a:r>
              <a:rPr lang="en-GB" b="0">
                <a:solidFill>
                  <a:srgbClr val="0F766E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kitchenproof.web.app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1874520" y="2103120"/>
            <a:ext cx="2286000" cy="2697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qr_ap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560" y="2240280"/>
            <a:ext cx="1645920" cy="164592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1920240" y="3959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Arial"/>
              </a:rPr>
              <a:t>Try it live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920240" y="42519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Arial"/>
              </a:rPr>
              <a:t>kitchenproof.web.app/tour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983479" y="2103120"/>
            <a:ext cx="2286000" cy="2697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qr_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2240280"/>
            <a:ext cx="1645920" cy="164592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5029200" y="3959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Arial"/>
              </a:rPr>
              <a:t>Source code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29200" y="42519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Arial"/>
              </a:rPr>
              <a:t>github.com/Sarthak115/KitchenProof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Why it is hard to fake, and fair to owners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7" name="Rounded Rectangle 166"/>
          <p:cNvSpPr/>
          <p:nvPr/>
        </p:nvSpPr>
        <p:spPr>
          <a:xfrm>
            <a:off x="274320" y="1143000"/>
            <a:ext cx="457200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347472" y="1216152"/>
            <a:ext cx="44256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Stops owners staging a clean kitchen</a:t>
            </a:r>
          </a:p>
        </p:txBody>
      </p:sp>
      <p:sp>
        <p:nvSpPr>
          <p:cNvPr id="169" name="Oval 168"/>
          <p:cNvSpPr/>
          <p:nvPr/>
        </p:nvSpPr>
        <p:spPr>
          <a:xfrm>
            <a:off x="320040" y="1664208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0" name="Picture 169" descr="stop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00" y="1760768"/>
            <a:ext cx="209214" cy="209214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841248" y="1645920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Unannounced  </a:t>
            </a:r>
            <a:r>
              <a:rPr sz="1000" b="0" i="0">
                <a:solidFill>
                  <a:srgbClr val="475569"/>
                </a:solidFill>
                <a:latin typeface="Arial"/>
              </a:rPr>
              <a:t>random time, 10 min to start, 4 min to finish</a:t>
            </a:r>
          </a:p>
        </p:txBody>
      </p:sp>
      <p:sp>
        <p:nvSpPr>
          <p:cNvPr id="172" name="Oval 171"/>
          <p:cNvSpPr/>
          <p:nvPr/>
        </p:nvSpPr>
        <p:spPr>
          <a:xfrm>
            <a:off x="320040" y="2185416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3" name="Picture 172" descr="d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600" y="2281976"/>
            <a:ext cx="209214" cy="209214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841248" y="2167128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One check at a time  </a:t>
            </a:r>
            <a:r>
              <a:rPr sz="1000" b="0" i="0">
                <a:solidFill>
                  <a:srgbClr val="475569"/>
                </a:solidFill>
                <a:latin typeface="Arial"/>
              </a:rPr>
              <a:t>the owner never sees the list in advance</a:t>
            </a:r>
          </a:p>
        </p:txBody>
      </p:sp>
      <p:sp>
        <p:nvSpPr>
          <p:cNvPr id="175" name="Oval 174"/>
          <p:cNvSpPr/>
          <p:nvPr/>
        </p:nvSpPr>
        <p:spPr>
          <a:xfrm>
            <a:off x="320040" y="2706624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6" name="Picture 175" descr="h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600" y="2803184"/>
            <a:ext cx="209214" cy="209214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841248" y="2688336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Hand-gesture liveness  </a:t>
            </a:r>
            <a:r>
              <a:rPr sz="1000" b="0" i="0">
                <a:solidFill>
                  <a:srgbClr val="475569"/>
                </a:solidFill>
                <a:latin typeface="Arial"/>
              </a:rPr>
              <a:t>a replayed video can’t follow it</a:t>
            </a:r>
          </a:p>
        </p:txBody>
      </p:sp>
      <p:sp>
        <p:nvSpPr>
          <p:cNvPr id="178" name="Oval 177"/>
          <p:cNvSpPr/>
          <p:nvPr/>
        </p:nvSpPr>
        <p:spPr>
          <a:xfrm>
            <a:off x="320040" y="3227832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9" name="Picture 178" descr="utensi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600" y="3324392"/>
            <a:ext cx="209214" cy="209214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841248" y="3209544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Live order on camera  </a:t>
            </a:r>
            <a:r>
              <a:rPr sz="1000" b="0" i="0">
                <a:solidFill>
                  <a:srgbClr val="475569"/>
                </a:solidFill>
                <a:latin typeface="Arial"/>
              </a:rPr>
              <a:t>“show order #4521 being made right now”</a:t>
            </a:r>
          </a:p>
        </p:txBody>
      </p:sp>
      <p:sp>
        <p:nvSpPr>
          <p:cNvPr id="181" name="Oval 180"/>
          <p:cNvSpPr/>
          <p:nvPr/>
        </p:nvSpPr>
        <p:spPr>
          <a:xfrm>
            <a:off x="320040" y="3749039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2" name="Picture 181" descr="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600" y="3845600"/>
            <a:ext cx="209214" cy="209214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841248" y="3730752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Gemini integrity check  </a:t>
            </a:r>
            <a:r>
              <a:rPr sz="1000" b="0" i="0">
                <a:solidFill>
                  <a:srgbClr val="475569"/>
                </a:solidFill>
                <a:latin typeface="Arial"/>
              </a:rPr>
              <a:t>cuts, a different kitchen, “too perfect”</a:t>
            </a:r>
          </a:p>
        </p:txBody>
      </p:sp>
      <p:sp>
        <p:nvSpPr>
          <p:cNvPr id="184" name="Oval 183"/>
          <p:cNvSpPr/>
          <p:nvPr/>
        </p:nvSpPr>
        <p:spPr>
          <a:xfrm>
            <a:off x="320040" y="4270248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5" name="Picture 184" descr="med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600" y="4366808"/>
            <a:ext cx="209214" cy="209214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841248" y="4251960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Evidence tiers  </a:t>
            </a:r>
            <a:r>
              <a:rPr sz="1000" b="0" i="0">
                <a:solidFill>
                  <a:srgbClr val="475569"/>
                </a:solidFill>
                <a:latin typeface="Arial"/>
              </a:rPr>
              <a:t>one staged video never gets past Bronze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166360" y="1143000"/>
            <a:ext cx="3703320" cy="384048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5239512" y="1216152"/>
            <a:ext cx="355701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Protects owners from AI mistakes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5166360" y="1609344"/>
            <a:ext cx="3703320" cy="676656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5257800" y="1709928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1" name="Picture 190" descr="ey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4360" y="1806488"/>
            <a:ext cx="209214" cy="209214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5779008" y="164592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“Not verified” ≠ fail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lowers coverage, never the score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166360" y="2386584"/>
            <a:ext cx="3703320" cy="676656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5257800" y="2487168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5" name="Picture 194" descr="sca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4360" y="2583728"/>
            <a:ext cx="209214" cy="209214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5779008" y="24231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Low confidence → human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never shown publicly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166360" y="3163824"/>
            <a:ext cx="3703320" cy="676656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Oval 197"/>
          <p:cNvSpPr/>
          <p:nvPr/>
        </p:nvSpPr>
        <p:spPr>
          <a:xfrm>
            <a:off x="5257800" y="3264408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9" name="Picture 198" descr="film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4360" y="3360968"/>
            <a:ext cx="209214" cy="209214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5779008" y="320040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Evidence for every finding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MM:SS timestamp in the video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5166360" y="3941064"/>
            <a:ext cx="3703320" cy="676656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5257800" y="4041648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3" name="Picture 202" descr="gave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4360" y="4138208"/>
            <a:ext cx="209214" cy="209214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5779008" y="3977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Arial"/>
              </a:rPr>
              <a:t>Dispute any finding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Arial"/>
              </a:rPr>
              <a:t>an inspector decides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